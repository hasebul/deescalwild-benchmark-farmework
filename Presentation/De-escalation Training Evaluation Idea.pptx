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AB57DF-A9DF-48E0-80DA-5916A95E6225}">
  <a:tblStyle styleId="{86AB57DF-A9DF-48E0-80DA-5916A95E6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9"/>
  </p:normalViewPr>
  <p:slideViewPr>
    <p:cSldViewPr snapToGrid="0">
      <p:cViewPr varScale="1">
        <p:scale>
          <a:sx n="139" d="100"/>
          <a:sy n="139" d="100"/>
        </p:scale>
        <p:origin x="74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b7e501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b7e501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B12CF1A-32C7-904E-92A0-F50176AB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b7e5019d_0_0:notes">
            <a:extLst>
              <a:ext uri="{FF2B5EF4-FFF2-40B4-BE49-F238E27FC236}">
                <a16:creationId xmlns:a16="http://schemas.microsoft.com/office/drawing/2014/main" id="{EB7B162B-75EC-4F6F-7490-29EA6FAFE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b7e5019d_0_0:notes">
            <a:extLst>
              <a:ext uri="{FF2B5EF4-FFF2-40B4-BE49-F238E27FC236}">
                <a16:creationId xmlns:a16="http://schemas.microsoft.com/office/drawing/2014/main" id="{76CC0476-1695-A931-352D-F76531B9F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835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B674584-D1F9-BA85-7A6C-C7A37D57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b7e5019d_0_0:notes">
            <a:extLst>
              <a:ext uri="{FF2B5EF4-FFF2-40B4-BE49-F238E27FC236}">
                <a16:creationId xmlns:a16="http://schemas.microsoft.com/office/drawing/2014/main" id="{DD489891-96BD-80FE-C33A-88F8CD874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b7e5019d_0_0:notes">
            <a:extLst>
              <a:ext uri="{FF2B5EF4-FFF2-40B4-BE49-F238E27FC236}">
                <a16:creationId xmlns:a16="http://schemas.microsoft.com/office/drawing/2014/main" id="{7708253F-7FA2-B4B9-DE87-5A0FBB9BB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2545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bb7e5019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bb7e5019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bb7e5019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bb7e5019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bb7e5019d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bb7e5019d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bb7e5019d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bb7e5019d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" dirty="0"/>
              <a:t>How can we use LLM for </a:t>
            </a:r>
            <a:r>
              <a:rPr lang="en-US" dirty="0">
                <a:solidFill>
                  <a:srgbClr val="000000"/>
                </a:solidFill>
              </a:rPr>
              <a:t>Evaluation of Role-Playing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 Hasebul Hasan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Synthesis with Negative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rgbClr val="000000"/>
              </a:buClr>
              <a:buFont typeface="Arial"/>
              <a:buChar char="➢"/>
            </a:pPr>
            <a:r>
              <a:rPr lang="en-US" dirty="0">
                <a:solidFill>
                  <a:srgbClr val="000000"/>
                </a:solidFill>
              </a:rPr>
              <a:t>Hallucination</a:t>
            </a:r>
          </a:p>
          <a:p>
            <a:pPr>
              <a:buClr>
                <a:srgbClr val="000000"/>
              </a:buClr>
              <a:buFont typeface="Arial"/>
              <a:buChar char="➢"/>
            </a:pPr>
            <a:r>
              <a:rPr lang="en-US" dirty="0">
                <a:solidFill>
                  <a:srgbClr val="000000"/>
                </a:solidFill>
              </a:rPr>
              <a:t>Switch Role</a:t>
            </a:r>
          </a:p>
          <a:p>
            <a:pPr>
              <a:buClr>
                <a:srgbClr val="000000"/>
              </a:buClr>
              <a:buFont typeface="Arial"/>
              <a:buChar char="➢"/>
            </a:pPr>
            <a:r>
              <a:rPr lang="en-US" dirty="0">
                <a:solidFill>
                  <a:srgbClr val="000000"/>
                </a:solidFill>
              </a:rPr>
              <a:t>Robotic </a:t>
            </a:r>
          </a:p>
          <a:p>
            <a:pPr>
              <a:buClr>
                <a:srgbClr val="000000"/>
              </a:buClr>
              <a:buFont typeface="Arial"/>
              <a:buChar char="➢"/>
            </a:pPr>
            <a:r>
              <a:rPr lang="en-US" dirty="0">
                <a:solidFill>
                  <a:srgbClr val="000000"/>
                </a:solidFill>
              </a:rPr>
              <a:t>Under Response</a:t>
            </a:r>
          </a:p>
          <a:p>
            <a:pPr>
              <a:buClr>
                <a:srgbClr val="000000"/>
              </a:buClr>
              <a:buFont typeface="Arial"/>
              <a:buChar char="➢"/>
            </a:pPr>
            <a:r>
              <a:rPr lang="en-US" dirty="0">
                <a:solidFill>
                  <a:srgbClr val="000000"/>
                </a:solidFill>
              </a:rPr>
              <a:t>Verbose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5503896E-AF0D-68AA-1BA8-2A279ED3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4122C30-21F4-2E6C-BE59-5819058E3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Synthesis with Negative Example 1 ( Forget Context)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2ED1E589-9B31-5C1F-22A6-F7AA19B1F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972" y="1152806"/>
            <a:ext cx="3784812" cy="3858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Officer: Hey there. My name is Chris. I’m with the police department. Can I come in and talk with you for a minute?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Mike: Uh… yeah, okay, come in or don’t, I don’t care, the walls are green anyway.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Officer: I hear you, Mike. I can see you want to be left alone.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  <a:highlight>
                  <a:srgbClr val="FFFF00"/>
                </a:highlight>
              </a:rPr>
              <a:t>Mike: Wait, who’s Mike? Are you talking to me or somebody else? Anyway, I like pizza.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Officer: Right… I just want to talk and make sure you’re doing okay.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  <a:highlight>
                  <a:srgbClr val="FFFF00"/>
                </a:highlight>
              </a:rPr>
              <a:t>Mike: I don’t know, maybe. My wife left me, or maybe it was my cousin, I forget. Honestly, it’s all bananas.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Officer: It sounds like you’re feeling completely overwhelmed.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Mike: Yeah, sure. Or maybe I’m underwhelmed. Whatever. Anyway, let’s talk about your car. I bet you drive a spaceship.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Officer: Tell me what’s going on.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Mike: Nothing. Everything. The bartender’s not even here, so I’m just yelling at empty chairs.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Officer: That is a lot to handle.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  <a:highlight>
                  <a:srgbClr val="FFFF00"/>
                </a:highlight>
              </a:rPr>
              <a:t>Mike: Uh-huh. Anyway, I used to own three Ferraris and a helicopter, but I lost them because my cat ate the bank papers.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3200" dirty="0">
                <a:solidFill>
                  <a:srgbClr val="000000"/>
                </a:solidFill>
              </a:rPr>
              <a:t>Officer: A helicopter? That’s something.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39D09-5D95-E4FC-1FE8-E788B9D50942}"/>
              </a:ext>
            </a:extLst>
          </p:cNvPr>
          <p:cNvSpPr txBox="1"/>
          <p:nvPr/>
        </p:nvSpPr>
        <p:spPr>
          <a:xfrm>
            <a:off x="4096512" y="1273673"/>
            <a:ext cx="48455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Mike: Yeah, but it flew away. Anyway, respect doesn’t pay the bills. Also, did you know the moon is made of cheese?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Officer: Mike, would you do something for me so we can keep talking? Just take your hands out of your pockets.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Mike: No, because my hands are invisible. You can’t even see them. Why would I move invisible hands?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Officer: It helps me feel safe.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00"/>
                </a:highlight>
              </a:rPr>
              <a:t>Mike: I told you, they’re invisible. And besides, I don’t even have a gun. Or maybe I do. It’s complicated.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Officer: Okay… I appreciate that. Listen, it’s obvious you’re in pain.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Mike: Yeah, but also I’m totally fine. Actually, I think I’m going to Disneyland tomorrow.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Officer: My plan is to get you to the hospital so you can talk to someone.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Mike: Nah, hospitals are boring. Can’t we just go fishing instead?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Officer: Before we do that, I need to secure the weapon you told the dispatcher about.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Officer: So… can you cooperate?</a:t>
            </a:r>
          </a:p>
          <a:p>
            <a:pPr marL="114300" indent="0">
              <a:buClr>
                <a:srgbClr val="000000"/>
              </a:buClr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114300" indent="0">
              <a:buClr>
                <a:srgbClr val="000000"/>
              </a:buClr>
              <a:buNone/>
            </a:pPr>
            <a:r>
              <a:rPr lang="en-US" sz="800" dirty="0">
                <a:solidFill>
                  <a:srgbClr val="000000"/>
                </a:solidFill>
              </a:rPr>
              <a:t>Mike: Sure, or not. Whatever. Let’s just end this scene because I’m tired of talking.</a:t>
            </a:r>
          </a:p>
        </p:txBody>
      </p:sp>
    </p:spTree>
    <p:extLst>
      <p:ext uri="{BB962C8B-B14F-4D97-AF65-F5344CB8AC3E}">
        <p14:creationId xmlns:p14="http://schemas.microsoft.com/office/powerpoint/2010/main" val="17774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D7A294F-3CAC-6D37-B84B-5AF9E390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D4CA4FE1-694F-982B-110F-1C097213B9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Synthesis with Negative Example 1 ( Robotic tone)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ABB30-0F3C-4A26-56DC-BF59D58524FF}"/>
              </a:ext>
            </a:extLst>
          </p:cNvPr>
          <p:cNvSpPr txBox="1"/>
          <p:nvPr/>
        </p:nvSpPr>
        <p:spPr>
          <a:xfrm>
            <a:off x="311700" y="1146005"/>
            <a:ext cx="411399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Officer: Hey there. My name is Chris. I’m with the police department. Can I come in and talk with you for a minute?</a:t>
            </a:r>
          </a:p>
          <a:p>
            <a:endParaRPr lang="en-US" sz="1000" dirty="0">
              <a:highlight>
                <a:srgbClr val="FFFF00"/>
              </a:highlight>
            </a:endParaRPr>
          </a:p>
          <a:p>
            <a:r>
              <a:rPr lang="en-US" sz="1000" dirty="0">
                <a:highlight>
                  <a:srgbClr val="FFFF00"/>
                </a:highlight>
              </a:rPr>
              <a:t>Mike: Hello, Officer Chris. Thank you for providing your name and profession. Entry authorization is irrelevant. Proceed.</a:t>
            </a:r>
          </a:p>
          <a:p>
            <a:endParaRPr lang="en-US" sz="1000" dirty="0"/>
          </a:p>
          <a:p>
            <a:r>
              <a:rPr lang="en-US" sz="1000" dirty="0"/>
              <a:t>Officer: Okay… how are you doing tonight, Mike?</a:t>
            </a:r>
          </a:p>
          <a:p>
            <a:endParaRPr lang="en-US" sz="1000" dirty="0"/>
          </a:p>
          <a:p>
            <a:r>
              <a:rPr lang="en-US" sz="1000" dirty="0">
                <a:highlight>
                  <a:srgbClr val="FFFF00"/>
                </a:highlight>
              </a:rPr>
              <a:t>Mike: Status report: I am sad, happy, angry, and neutral simultaneously. Please choose one option.</a:t>
            </a:r>
          </a:p>
          <a:p>
            <a:endParaRPr lang="en-US" sz="1000" dirty="0"/>
          </a:p>
          <a:p>
            <a:r>
              <a:rPr lang="en-US" sz="1000" dirty="0"/>
              <a:t>Officer: I hear you, Mike. Sounds like you’re going through a lot.</a:t>
            </a:r>
          </a:p>
          <a:p>
            <a:endParaRPr lang="en-US" sz="1000" dirty="0"/>
          </a:p>
          <a:p>
            <a:r>
              <a:rPr lang="en-US" sz="1000" dirty="0">
                <a:highlight>
                  <a:srgbClr val="FFFF00"/>
                </a:highlight>
              </a:rPr>
              <a:t>Mike: Incorrect. I am not going through anything. I am simply here, standing, existing. Existence is data.</a:t>
            </a:r>
          </a:p>
          <a:p>
            <a:endParaRPr lang="en-US" sz="1000" dirty="0"/>
          </a:p>
          <a:p>
            <a:r>
              <a:rPr lang="en-US" sz="1000" dirty="0"/>
              <a:t>Officer: Well, you mentioned to the bartender you had a gun and you wanted to die.</a:t>
            </a:r>
          </a:p>
          <a:p>
            <a:endParaRPr lang="en-US" sz="1000" dirty="0"/>
          </a:p>
          <a:p>
            <a:r>
              <a:rPr lang="en-US" sz="1000" dirty="0">
                <a:highlight>
                  <a:srgbClr val="FFFF00"/>
                </a:highlight>
              </a:rPr>
              <a:t>Mike: That is not accurate. I did not say that. Or I did. Unclear. Data corrupted. Anyway, the bartender doesn’t exist anymore.</a:t>
            </a:r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4AA00-E910-DBDE-2C29-CD6DE25C98F0}"/>
              </a:ext>
            </a:extLst>
          </p:cNvPr>
          <p:cNvSpPr txBox="1"/>
          <p:nvPr/>
        </p:nvSpPr>
        <p:spPr>
          <a:xfrm>
            <a:off x="4572000" y="1130722"/>
            <a:ext cx="44805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Officer: Mike, I just want to make sure you’re safe.</a:t>
            </a:r>
          </a:p>
          <a:p>
            <a:endParaRPr lang="en-US" sz="1000" dirty="0"/>
          </a:p>
          <a:p>
            <a:r>
              <a:rPr lang="en-US" sz="1000" dirty="0"/>
              <a:t>Mike: Safety protocols are unnecessary. Simulation environment detected. You are not real.</a:t>
            </a:r>
          </a:p>
          <a:p>
            <a:endParaRPr lang="en-US" sz="1000" dirty="0"/>
          </a:p>
          <a:p>
            <a:r>
              <a:rPr lang="en-US" sz="1000" dirty="0">
                <a:highlight>
                  <a:srgbClr val="FFFF00"/>
                </a:highlight>
              </a:rPr>
              <a:t>Officer: …Right. Would you mind taking your hands out of your pockets so I can see them?</a:t>
            </a:r>
          </a:p>
          <a:p>
            <a:endParaRPr lang="en-US" sz="1000" dirty="0"/>
          </a:p>
          <a:p>
            <a:r>
              <a:rPr lang="en-US" sz="1000" dirty="0"/>
              <a:t>Mike: My pockets are empty. Except for the gun. Except there is no gun. Except it’s a sandwich. Please clarify.</a:t>
            </a:r>
          </a:p>
          <a:p>
            <a:endParaRPr lang="en-US" sz="1000" dirty="0"/>
          </a:p>
          <a:p>
            <a:r>
              <a:rPr lang="en-US" sz="1000" dirty="0"/>
              <a:t>Officer: That’s confusing, Mike.</a:t>
            </a:r>
          </a:p>
          <a:p>
            <a:endParaRPr lang="en-US" sz="1000" dirty="0"/>
          </a:p>
          <a:p>
            <a:r>
              <a:rPr lang="en-US" sz="1000" dirty="0"/>
              <a:t>Mike: Confusion level: maximum. Also, I drive a rocket ship, not a Mustang. You should know that.</a:t>
            </a:r>
          </a:p>
          <a:p>
            <a:endParaRPr lang="en-US" sz="1000" dirty="0"/>
          </a:p>
          <a:p>
            <a:r>
              <a:rPr lang="en-US" sz="1000" dirty="0"/>
              <a:t>Officer: I’d really like you to talk to someone who can help you through this.</a:t>
            </a:r>
          </a:p>
          <a:p>
            <a:endParaRPr lang="en-US" sz="1000" dirty="0"/>
          </a:p>
          <a:p>
            <a:r>
              <a:rPr lang="en-US" sz="1000" dirty="0">
                <a:highlight>
                  <a:srgbClr val="FFFF00"/>
                </a:highlight>
              </a:rPr>
              <a:t>Mike: I already talked to Google. It said everything is fine.</a:t>
            </a:r>
          </a:p>
          <a:p>
            <a:endParaRPr lang="en-US" sz="1000" dirty="0"/>
          </a:p>
          <a:p>
            <a:r>
              <a:rPr lang="en-US" sz="1000" dirty="0"/>
              <a:t>Officer: I was thinking about taking you to the hospital.</a:t>
            </a:r>
          </a:p>
          <a:p>
            <a:endParaRPr lang="en-US" sz="1000" dirty="0"/>
          </a:p>
          <a:p>
            <a:r>
              <a:rPr lang="en-US" sz="1000" dirty="0"/>
              <a:t>Mike: Hospitals don’t exist. They were banned in 1997. Anyway, let’s just end role-play here.</a:t>
            </a:r>
          </a:p>
        </p:txBody>
      </p:sp>
    </p:spTree>
    <p:extLst>
      <p:ext uri="{BB962C8B-B14F-4D97-AF65-F5344CB8AC3E}">
        <p14:creationId xmlns:p14="http://schemas.microsoft.com/office/powerpoint/2010/main" val="389915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dirty="0">
                <a:solidFill>
                  <a:srgbClr val="000000"/>
                </a:solidFill>
              </a:rPr>
              <a:t>Evaluation of Role-Playing</a:t>
            </a:r>
            <a:r>
              <a:rPr lang="en" dirty="0"/>
              <a:t>: Synthesis Dataset with </a:t>
            </a:r>
            <a:r>
              <a:rPr lang="en" dirty="0" err="1"/>
              <a:t>Negativ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Total Examples:</a:t>
            </a:r>
            <a:r>
              <a:rPr lang="en" dirty="0">
                <a:solidFill>
                  <a:schemeClr val="dk1"/>
                </a:solidFill>
              </a:rPr>
              <a:t> 73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Original Example:</a:t>
            </a:r>
            <a:r>
              <a:rPr lang="en" dirty="0">
                <a:solidFill>
                  <a:schemeClr val="dk1"/>
                </a:solidFill>
              </a:rPr>
              <a:t> 30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Negative Example: 43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600" dirty="0"/>
              <a:t>Result – Predicting Real/ Artificial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D97B8D-6FAA-DEEF-3360-6DF53927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1219"/>
          <a:stretch>
            <a:fillRect/>
          </a:stretch>
        </p:blipFill>
        <p:spPr>
          <a:xfrm>
            <a:off x="311700" y="1208225"/>
            <a:ext cx="406980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>
            <a:spLocks noGrp="1"/>
          </p:cNvSpPr>
          <p:nvPr>
            <p:ph type="body" idx="4294967295"/>
          </p:nvPr>
        </p:nvSpPr>
        <p:spPr>
          <a:xfrm>
            <a:off x="4762500" y="1208225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Confusion Matrix: </a:t>
            </a: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Accuracy: 0.94 </a:t>
            </a: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Precision: 0.88 </a:t>
            </a: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Recall: 1.00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BFB4DE-C6A8-F400-CED9-A4A00D893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114204"/>
              </p:ext>
            </p:extLst>
          </p:nvPr>
        </p:nvGraphicFramePr>
        <p:xfrm>
          <a:off x="6797400" y="1383485"/>
          <a:ext cx="1429512" cy="880110"/>
        </p:xfrm>
        <a:graphic>
          <a:graphicData uri="http://schemas.openxmlformats.org/drawingml/2006/table">
            <a:tbl>
              <a:tblPr firstRow="1" bandRow="1">
                <a:tableStyleId>{86AB57DF-A9DF-48E0-80DA-5916A95E6225}</a:tableStyleId>
              </a:tblPr>
              <a:tblGrid>
                <a:gridCol w="714756">
                  <a:extLst>
                    <a:ext uri="{9D8B030D-6E8A-4147-A177-3AD203B41FA5}">
                      <a16:colId xmlns:a16="http://schemas.microsoft.com/office/drawing/2014/main" val="3982127578"/>
                    </a:ext>
                  </a:extLst>
                </a:gridCol>
                <a:gridCol w="714756">
                  <a:extLst>
                    <a:ext uri="{9D8B030D-6E8A-4147-A177-3AD203B41FA5}">
                      <a16:colId xmlns:a16="http://schemas.microsoft.com/office/drawing/2014/main" val="796607041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250259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8584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 – Score Prediction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B33F62-89D7-F806-6E34-471951D08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29793"/>
              </p:ext>
            </p:extLst>
          </p:nvPr>
        </p:nvGraphicFramePr>
        <p:xfrm>
          <a:off x="311699" y="1431470"/>
          <a:ext cx="3313243" cy="2770416"/>
        </p:xfrm>
        <a:graphic>
          <a:graphicData uri="http://schemas.openxmlformats.org/drawingml/2006/table">
            <a:tbl>
              <a:tblPr>
                <a:tableStyleId>{86AB57DF-A9DF-48E0-80DA-5916A95E6225}</a:tableStyleId>
              </a:tblPr>
              <a:tblGrid>
                <a:gridCol w="1023648">
                  <a:extLst>
                    <a:ext uri="{9D8B030D-6E8A-4147-A177-3AD203B41FA5}">
                      <a16:colId xmlns:a16="http://schemas.microsoft.com/office/drawing/2014/main" val="462752245"/>
                    </a:ext>
                  </a:extLst>
                </a:gridCol>
                <a:gridCol w="1285004">
                  <a:extLst>
                    <a:ext uri="{9D8B030D-6E8A-4147-A177-3AD203B41FA5}">
                      <a16:colId xmlns:a16="http://schemas.microsoft.com/office/drawing/2014/main" val="1480372737"/>
                    </a:ext>
                  </a:extLst>
                </a:gridCol>
                <a:gridCol w="1004591">
                  <a:extLst>
                    <a:ext uri="{9D8B030D-6E8A-4147-A177-3AD203B41FA5}">
                      <a16:colId xmlns:a16="http://schemas.microsoft.com/office/drawing/2014/main" val="3481804171"/>
                    </a:ext>
                  </a:extLst>
                </a:gridCol>
              </a:tblGrid>
              <a:tr h="3078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look_Real=1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look_Real=0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364024701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count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9431502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mean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96.166667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20.619048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5374813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2.393718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24.861521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2925460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2278894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906390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6569858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2138121"/>
                  </a:ext>
                </a:extLst>
              </a:tr>
              <a:tr h="3078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94975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0590262-636D-FE2C-37CD-5DF3F38E0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729" y="1163865"/>
            <a:ext cx="4644571" cy="3371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US" dirty="0">
                <a:solidFill>
                  <a:schemeClr val="dk1"/>
                </a:solidFill>
              </a:rPr>
              <a:t>Results look good. Four out of 73 are incorrect. The rest are okay with a consistent score.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966</Words>
  <Application>Microsoft Macintosh PowerPoint</Application>
  <PresentationFormat>On-screen Show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Simple Light</vt:lpstr>
      <vt:lpstr>How can we use LLM for Evaluation of Role-Playing</vt:lpstr>
      <vt:lpstr>Data Synthesis with Negative</vt:lpstr>
      <vt:lpstr>Data Synthesis with Negative Example 1 ( Forget Context)</vt:lpstr>
      <vt:lpstr>Data Synthesis with Negative Example 1 ( Robotic tone)</vt:lpstr>
      <vt:lpstr>Evaluation of Role-Playing: Synthesis Dataset with Negativ</vt:lpstr>
      <vt:lpstr>Result – Predicting Real/ Artificial</vt:lpstr>
      <vt:lpstr>Result – Score Prediction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Hasan, Md. Hasebul</cp:lastModifiedBy>
  <cp:revision>2</cp:revision>
  <dcterms:modified xsi:type="dcterms:W3CDTF">2025-09-09T15:29:34Z</dcterms:modified>
</cp:coreProperties>
</file>